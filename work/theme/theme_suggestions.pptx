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</c:v>
                </c:pt>
              </c:strCache>
            </c:strRef>
          </c:tx>
          <c:spPr>
            <a:solidFill>
              <a:srgbClr val="8C8F94"/>
            </a:solidFill>
          </c:spPr>
          <c:dPt>
            <c:idx val="4"/>
            <c:spPr>
              <a:solidFill>
                <a:srgbClr val="3E125F"/>
              </a:solidFill>
            </c:spPr>
          </c:dPt>
          <c:cat>
            <c:strRef>
              <c:f>Sheet1!$A$2:$A$6</c:f>
              <c:strCache>
                <c:ptCount val="5"/>
                <c:pt idx="0">
                  <c:v>Combination E</c:v>
                </c:pt>
                <c:pt idx="1">
                  <c:v>Combination D</c:v>
                </c:pt>
                <c:pt idx="2">
                  <c:v>Combination C</c:v>
                </c:pt>
                <c:pt idx="3">
                  <c:v>Combination B</c:v>
                </c:pt>
                <c:pt idx="4">
                  <c:v>Recommended (example)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18</c:v>
                </c:pt>
                <c:pt idx="2">
                  <c:v>31</c:v>
                </c:pt>
                <c:pt idx="3">
                  <c:v>45</c:v>
                </c:pt>
                <c:pt idx="4">
                  <c:v>62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1200">
                  <a:solidFill>
                    <a:srgbClr val="26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26262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</c:v>
                </c:pt>
              </c:strCache>
            </c:strRef>
          </c:tx>
          <c:spPr>
            <a:solidFill>
              <a:srgbClr val="8C8F94"/>
            </a:solidFill>
          </c:spPr>
          <c:dPt>
            <c:idx val="4"/>
            <c:spPr>
              <a:solidFill>
                <a:srgbClr val="3E125F"/>
              </a:solidFill>
            </c:spPr>
          </c:dPt>
          <c:cat>
            <c:strRef>
              <c:f>Sheet1!$A$2:$A$6</c:f>
              <c:strCache>
                <c:ptCount val="5"/>
                <c:pt idx="0">
                  <c:v>Combination E</c:v>
                </c:pt>
                <c:pt idx="1">
                  <c:v>Combination D</c:v>
                </c:pt>
                <c:pt idx="2">
                  <c:v>Combination C</c:v>
                </c:pt>
                <c:pt idx="3">
                  <c:v>Combination B</c:v>
                </c:pt>
                <c:pt idx="4">
                  <c:v>Recommended (example)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18</c:v>
                </c:pt>
                <c:pt idx="2">
                  <c:v>31</c:v>
                </c:pt>
                <c:pt idx="3">
                  <c:v>45</c:v>
                </c:pt>
                <c:pt idx="4">
                  <c:v>62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1200">
                  <a:solidFill>
                    <a:srgbClr val="26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26262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</c:v>
                </c:pt>
              </c:strCache>
            </c:strRef>
          </c:tx>
          <c:spPr>
            <a:solidFill>
              <a:srgbClr val="8C8F94"/>
            </a:solidFill>
          </c:spPr>
          <c:dPt>
            <c:idx val="4"/>
            <c:spPr>
              <a:solidFill>
                <a:srgbClr val="3E125F"/>
              </a:solidFill>
            </c:spPr>
          </c:dPt>
          <c:cat>
            <c:strRef>
              <c:f>Sheet1!$A$2:$A$6</c:f>
              <c:strCache>
                <c:ptCount val="5"/>
                <c:pt idx="0">
                  <c:v>Combination E</c:v>
                </c:pt>
                <c:pt idx="1">
                  <c:v>Combination D</c:v>
                </c:pt>
                <c:pt idx="2">
                  <c:v>Combination C</c:v>
                </c:pt>
                <c:pt idx="3">
                  <c:v>Combination B</c:v>
                </c:pt>
                <c:pt idx="4">
                  <c:v>Recommended (example)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18</c:v>
                </c:pt>
                <c:pt idx="2">
                  <c:v>31</c:v>
                </c:pt>
                <c:pt idx="3">
                  <c:v>45</c:v>
                </c:pt>
                <c:pt idx="4">
                  <c:v>62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1200">
                  <a:solidFill>
                    <a:srgbClr val="26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26262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A, sponsor-forward (recommended in notes/theme-brief.md).</a:t>
            </a:r>
          </a:p>
          <a:p>
            <a:r>
              <a:t>Intended fonts: Source Serif 4 Semibold for titles; Open Sans for body and footnotes. This file renders them in Georgia and Arial because neither intended font is installed on this machine.</a:t>
            </a:r>
          </a:p>
          <a:p>
            <a:r>
              <a:t>Colors: Vertex purple #3E125F for titles, the recommendation accent, and headline numbers (sampled from the Vertex logo on the case PDF cover). Body text #595A5F (sampled Vertex wordmark gray). Rules and table fills Steel Gray #E0E0E0. Alternatives in charts #8C8F94. Carnegie Red #C41230 appears on the title slide only, as text.</a:t>
            </a:r>
          </a:p>
          <a:p>
            <a:r>
              <a:t>Color notes: the brand reference in the theme brief, #52247F, is lighter than the sampled logo purple #3E125F. The case PDF headings use #7030A0, which is Microsoft Office's default purple, not a Vertex brand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A, sponsor-forward (recommended in notes/theme-brief.md).</a:t>
            </a:r>
          </a:p>
          <a:p>
            <a:r>
              <a:t>Intended fonts: Source Serif 4 Semibold for titles; Open Sans for body and footnotes. This file renders them in Georgia and Arial because neither intended font is installed on this machine.</a:t>
            </a:r>
          </a:p>
          <a:p>
            <a:r>
              <a:t>Colors: Vertex purple #3E125F for titles, the recommendation accent, and headline numbers (sampled from the Vertex logo on the case PDF cover). Body text #595A5F (sampled Vertex wordmark gray). Rules and table fills Steel Gray #E0E0E0. Alternatives in charts #8C8F94. Carnegie Red #C41230 appears on the title slide only, as text.</a:t>
            </a:r>
          </a:p>
          <a:p>
            <a:r>
              <a:t>Color notes: the brand reference in the theme brief, #52247F, is lighter than the sampled logo purple #3E125F. The case PDF headings use #7030A0, which is Microsoft Office's default purple, not a Vertex brand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B, Tepper-forward co-brand.</a:t>
            </a:r>
          </a:p>
          <a:p>
            <a:r>
              <a:t>Intended font: Open Sans only (bold titles, regular body). This file renders it in Arial because Open Sans is not installed on this machine.</a:t>
            </a:r>
          </a:p>
          <a:p>
            <a:r>
              <a:t>Colors: Carnegie Red #C41230 for the title slide, titles, and slide numbers. Vertex purple #3E125F marks the recommendation in charts. Body text Iron Gray #6D6E71. Fills Steel Gray #E0E0E0. Alternatives in charts #8C8F94.</a:t>
            </a:r>
          </a:p>
          <a:p>
            <a:r>
              <a:t>Risk from the theme brief: readers read red as a loss in financial charts, so red stays out of every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B, Tepper-forward co-brand.</a:t>
            </a:r>
          </a:p>
          <a:p>
            <a:r>
              <a:t>Intended font: Open Sans only (bold titles, regular body). This file renders it in Arial because Open Sans is not installed on this machine.</a:t>
            </a:r>
          </a:p>
          <a:p>
            <a:r>
              <a:t>Colors: Carnegie Red #C41230 for the title slide, titles, and slide numbers. Vertex purple #3E125F marks the recommendation in charts. Body text Iron Gray #6D6E71. Fills Steel Gray #E0E0E0. Alternatives in charts #8C8F94.</a:t>
            </a:r>
          </a:p>
          <a:p>
            <a:r>
              <a:t>Risk from the theme brief: readers read red as a loss in financial charts, so red stays out of every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C, Healthcare Club navy.</a:t>
            </a:r>
          </a:p>
          <a:p>
            <a:r>
              <a:t>Intended font: Open Sans only. This file renders it in Arial because Open Sans is not installed on this machine.</a:t>
            </a:r>
          </a:p>
          <a:p>
            <a:r>
              <a:t>Colors: title slide in the Healthcare Club navy #010F3B (sampled from the club logo on the case PDF cover). Titles in CMU Weaver Blue #182C4B. Vertex purple #3E125F marks the recommendation in charts. Body text #4A4A4A. Alternatives in charts #8C8F94. Red appears on the title slide only, in the club red #F13345 sampled from the club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option C, Healthcare Club navy.</a:t>
            </a:r>
          </a:p>
          <a:p>
            <a:r>
              <a:t>Intended font: Open Sans only. This file renders it in Arial because Open Sans is not installed on this machine.</a:t>
            </a:r>
          </a:p>
          <a:p>
            <a:r>
              <a:t>Colors: title slide in the Healthcare Club navy #010F3B (sampled from the club logo on the case PDF cover). Titles in CMU Weaver Blue #182C4B. Vertex purple #3E125F marks the recommendation in charts. Body text #4A4A4A. Alternatives in charts #8C8F94. Red appears on the title slide only, in the club red #F13345 sampled from the club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41230"/>
                </a:solidFill>
                <a:latin typeface="Arial"/>
              </a:rPr>
              <a:t>2026 TEPPER HEALTHCARE CASE COMPETITION  ·  QUALIFYING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E125F"/>
                </a:solidFill>
                <a:latin typeface="Georgia"/>
              </a:rPr>
              <a:t>Reaching AMKD Patients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E125F"/>
                </a:solidFill>
                <a:latin typeface="Georgia"/>
              </a:rPr>
              <a:t>in Primary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A5F"/>
                </a:solidFill>
                <a:latin typeface="Arial"/>
              </a:rPr>
              <a:t>A go-to-market recommendation for inaxaplin, prepared for Vertex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5A5F"/>
                </a:solidFill>
                <a:latin typeface="Arial"/>
              </a:rPr>
              <a:t>Vidhur Vashisht  ·  Skylar Dennerlein  ·  Mike Homze  ·  Christian Woodfin  ·  October 2026</a:t>
            </a:r>
          </a:p>
        </p:txBody>
      </p:sp>
      <p:pic>
        <p:nvPicPr>
          <p:cNvPr id="6" name="Picture 5" descr="case_cov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20640"/>
            <a:ext cx="4754880" cy="94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52578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C41230"/>
                </a:solidFill>
                <a:latin typeface="Georgia"/>
              </a:rPr>
              <a:t>Carnegie Mellon University</a:t>
            </a:r>
          </a:p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C41230"/>
                </a:solidFill>
                <a:latin typeface="Georgia"/>
              </a:rPr>
              <a:t>Tepper School of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Theme option A: sponsor-forward (recommended)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E125F"/>
                </a:solidFill>
                <a:latin typeface="Georgia"/>
              </a:rPr>
              <a:t>Placeholder title: the highlighted combination returns $62M in this sample, $17M more than the next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595A5F"/>
                </a:solidFill>
                <a:latin typeface="Arial"/>
              </a:rPr>
              <a:t>Titles: </a:t>
            </a:r>
            <a:r>
              <a:rPr sz="1400">
                <a:solidFill>
                  <a:srgbClr val="595A5F"/>
                </a:solidFill>
                <a:latin typeface="Arial"/>
              </a:rPr>
              <a:t>one full sentence, at most two lines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595A5F"/>
                </a:solidFill>
                <a:latin typeface="Arial"/>
              </a:rPr>
              <a:t>Bullets: </a:t>
            </a:r>
            <a:r>
              <a:rPr sz="1400">
                <a:solidFill>
                  <a:srgbClr val="595A5F"/>
                </a:solidFill>
                <a:latin typeface="Arial"/>
              </a:rPr>
              <a:t>fragments of 12 words or fewer, each with a number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595A5F"/>
                </a:solidFill>
                <a:latin typeface="Arial"/>
              </a:rPr>
              <a:t>Accent: </a:t>
            </a:r>
            <a:r>
              <a:rPr sz="1400">
                <a:solidFill>
                  <a:srgbClr val="595A5F"/>
                </a:solidFill>
                <a:latin typeface="Arial"/>
              </a:rPr>
              <a:t>Vertex purple marks our recommendation on every chart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595A5F"/>
                </a:solidFill>
                <a:latin typeface="Arial"/>
              </a:rPr>
              <a:t>Alternatives: </a:t>
            </a:r>
            <a:r>
              <a:rPr sz="1400">
                <a:solidFill>
                  <a:srgbClr val="595A5F"/>
                </a:solidFill>
                <a:latin typeface="Arial"/>
              </a:rPr>
              <a:t>gray #8C8F94, never red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595A5F"/>
                </a:solidFill>
                <a:latin typeface="Arial"/>
              </a:rPr>
              <a:t>Assumptions: </a:t>
            </a:r>
            <a:r>
              <a:rPr sz="1400">
                <a:solidFill>
                  <a:srgbClr val="595A5F"/>
                </a:solidFill>
                <a:latin typeface="Arial"/>
              </a:rPr>
              <a:t>each team value carries its register ID (A-01)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3E125F"/>
                </a:solidFill>
                <a:latin typeface="Arial"/>
              </a:rPr>
              <a:t>$62M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83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A5F"/>
                </a:solidFill>
                <a:latin typeface="Arial"/>
              </a:rPr>
              <a:t>sample headline figure, placeholder data (A-01)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Added risk-adjusted NPV by combination, $M (placeholder data)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20640" y="2148840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Sources: [1] Sample source name, 4/19/26, p. 5. A-01 = team assumption ID from the assumptions register.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Placeholder data for theme review only; these are not results.  Theme option A: sponsor-forward (recommended).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95A5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2026 TEPPER HEALTHCARE CASE COMPETITION  ·  QUALIFYING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Reaching AMKD Patients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in Primary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2F2F2"/>
                </a:solidFill>
                <a:latin typeface="Arial"/>
              </a:rPr>
              <a:t>A go-to-market recommendation for inaxaplin, prepared for Vertex Pharmaceuticals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F2F2"/>
                </a:solidFill>
                <a:latin typeface="Arial"/>
              </a:rPr>
              <a:t>Vidhur Vashisht  ·  Skylar Dennerlein  ·  Mike Homze  ·  Christian Woodfin  ·  October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5212080" cy="13992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se_cov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120640"/>
            <a:ext cx="4754880" cy="94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2578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Carnegie Mellon University</a:t>
            </a:r>
          </a:p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Tepper School of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F2F2F2"/>
                </a:solidFill>
                <a:latin typeface="Arial"/>
              </a:rPr>
              <a:t>Theme option B: Tepper-forward co-brand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C41230"/>
                </a:solidFill>
                <a:latin typeface="Arial"/>
              </a:rPr>
              <a:t>Placeholder title: the highlighted combination returns $62M in this sample, $17M more than the next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6D6E71"/>
                </a:solidFill>
                <a:latin typeface="Arial"/>
              </a:rPr>
              <a:t>Titles: </a:t>
            </a:r>
            <a:r>
              <a:rPr sz="1400">
                <a:solidFill>
                  <a:srgbClr val="6D6E71"/>
                </a:solidFill>
                <a:latin typeface="Arial"/>
              </a:rPr>
              <a:t>one full sentence, at most two lines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6D6E71"/>
                </a:solidFill>
                <a:latin typeface="Arial"/>
              </a:rPr>
              <a:t>Bullets: </a:t>
            </a:r>
            <a:r>
              <a:rPr sz="1400">
                <a:solidFill>
                  <a:srgbClr val="6D6E71"/>
                </a:solidFill>
                <a:latin typeface="Arial"/>
              </a:rPr>
              <a:t>fragments of 12 words or fewer, each with a number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6D6E71"/>
                </a:solidFill>
                <a:latin typeface="Arial"/>
              </a:rPr>
              <a:t>Accent: </a:t>
            </a:r>
            <a:r>
              <a:rPr sz="1400">
                <a:solidFill>
                  <a:srgbClr val="6D6E71"/>
                </a:solidFill>
                <a:latin typeface="Arial"/>
              </a:rPr>
              <a:t>Vertex purple marks our recommendation on every chart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6D6E71"/>
                </a:solidFill>
                <a:latin typeface="Arial"/>
              </a:rPr>
              <a:t>Alternatives: </a:t>
            </a:r>
            <a:r>
              <a:rPr sz="1400">
                <a:solidFill>
                  <a:srgbClr val="6D6E71"/>
                </a:solidFill>
                <a:latin typeface="Arial"/>
              </a:rPr>
              <a:t>gray #8C8F94, never red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6D6E71"/>
                </a:solidFill>
                <a:latin typeface="Arial"/>
              </a:rPr>
              <a:t>Assumptions: </a:t>
            </a:r>
            <a:r>
              <a:rPr sz="1400">
                <a:solidFill>
                  <a:srgbClr val="6D6E71"/>
                </a:solidFill>
                <a:latin typeface="Arial"/>
              </a:rPr>
              <a:t>each team value carries its register ID (A-01)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3E125F"/>
                </a:solidFill>
                <a:latin typeface="Arial"/>
              </a:rPr>
              <a:t>$62M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83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6E71"/>
                </a:solidFill>
                <a:latin typeface="Arial"/>
              </a:rPr>
              <a:t>sample headline figure, placeholder data (A-01)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Added risk-adjusted NPV by combination, $M (placeholder data)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20640" y="2148840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Sources: [1] Sample source name, 4/19/26, p. 5. A-01 = team assumption ID from the assumptions register.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Placeholder data for theme review only; these are not results.  Theme option B: Tepper-forward co-brand.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123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3345"/>
                </a:solidFill>
                <a:latin typeface="Arial"/>
              </a:rPr>
              <a:t>2026 TEPPER HEALTHCARE CASE COMPETITION  ·  QUALIFYING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Reaching AMKD Patients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in Primary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2F2F2"/>
                </a:solidFill>
                <a:latin typeface="Arial"/>
              </a:rPr>
              <a:t>A go-to-market recommendation for inaxaplin, prepared for Vertex Pharmaceuticals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F2F2"/>
                </a:solidFill>
                <a:latin typeface="Arial"/>
              </a:rPr>
              <a:t>Vidhur Vashisht  ·  Skylar Dennerlein  ·  Mike Homze  ·  Christian Woodfin  ·  October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5212080" cy="13992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se_cov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120640"/>
            <a:ext cx="4754880" cy="94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2578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Carnegie Mellon University</a:t>
            </a:r>
          </a:p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Tepper School of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F2F2F2"/>
                </a:solidFill>
                <a:latin typeface="Arial"/>
              </a:rPr>
              <a:t>Theme option C: Healthcare Club navy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C4B"/>
                </a:solidFill>
                <a:latin typeface="Arial"/>
              </a:rPr>
              <a:t>Placeholder title: the highlighted combination returns $62M in this sample, $17M more than the next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4A4A4A"/>
                </a:solidFill>
                <a:latin typeface="Arial"/>
              </a:rPr>
              <a:t>Titles: </a:t>
            </a:r>
            <a:r>
              <a:rPr sz="1400">
                <a:solidFill>
                  <a:srgbClr val="4A4A4A"/>
                </a:solidFill>
                <a:latin typeface="Arial"/>
              </a:rPr>
              <a:t>one full sentence, at most two lines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4A4A4A"/>
                </a:solidFill>
                <a:latin typeface="Arial"/>
              </a:rPr>
              <a:t>Bullets: </a:t>
            </a:r>
            <a:r>
              <a:rPr sz="1400">
                <a:solidFill>
                  <a:srgbClr val="4A4A4A"/>
                </a:solidFill>
                <a:latin typeface="Arial"/>
              </a:rPr>
              <a:t>fragments of 12 words or fewer, each with a number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4A4A4A"/>
                </a:solidFill>
                <a:latin typeface="Arial"/>
              </a:rPr>
              <a:t>Accent: </a:t>
            </a:r>
            <a:r>
              <a:rPr sz="1400">
                <a:solidFill>
                  <a:srgbClr val="4A4A4A"/>
                </a:solidFill>
                <a:latin typeface="Arial"/>
              </a:rPr>
              <a:t>Vertex purple marks our recommendation on every chart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4A4A4A"/>
                </a:solidFill>
                <a:latin typeface="Arial"/>
              </a:rPr>
              <a:t>Alternatives: </a:t>
            </a:r>
            <a:r>
              <a:rPr sz="1400">
                <a:solidFill>
                  <a:srgbClr val="4A4A4A"/>
                </a:solidFill>
                <a:latin typeface="Arial"/>
              </a:rPr>
              <a:t>gray #8C8F94, never red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b="1" sz="1400">
                <a:solidFill>
                  <a:srgbClr val="4A4A4A"/>
                </a:solidFill>
                <a:latin typeface="Arial"/>
              </a:rPr>
              <a:t>Assumptions: </a:t>
            </a:r>
            <a:r>
              <a:rPr sz="1400">
                <a:solidFill>
                  <a:srgbClr val="4A4A4A"/>
                </a:solidFill>
                <a:latin typeface="Arial"/>
              </a:rPr>
              <a:t>each team value carries its register ID (A-01)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3E125F"/>
                </a:solidFill>
                <a:latin typeface="Arial"/>
              </a:rPr>
              <a:t>$62M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83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A4A4A"/>
                </a:solidFill>
                <a:latin typeface="Arial"/>
              </a:rPr>
              <a:t>sample headline figure, placeholder data (A-01)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Arial"/>
              </a:rPr>
              <a:t>Added risk-adjusted NPV by combination, $M (placeholder data)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20640" y="2148840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Sources: [1] Sample source name, 4/19/26, p. 5. A-01 = team assumption ID from the assumptions register.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D6E71"/>
                </a:solidFill>
                <a:latin typeface="Arial"/>
              </a:rPr>
              <a:t>Placeholder data for theme review only; these are not results.  Theme option C: Healthcare Club navy.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82C4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